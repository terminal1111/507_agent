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54864" cy="201168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2860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6000" b="1">
                <a:solidFill>
                  <a:srgbClr val="FAF9F5"/>
                </a:solidFill>
                <a:latin typeface="Georgia"/>
              </a:defRPr>
            </a:pPr>
            <a:r>
              <a:t>507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0">
                <a:solidFill>
                  <a:srgbClr val="A09D96"/>
                </a:solidFill>
                <a:latin typeface="Georgia"/>
              </a:defRPr>
            </a:pPr>
            <a:r>
              <a:t>校园服务智能体平台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6C6A64"/>
                </a:solidFill>
                <a:latin typeface="Arial"/>
              </a:defRPr>
            </a:pPr>
            <a:r>
              <a:t>软件综合实习 · 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A09D96"/>
                </a:solidFill>
                <a:latin typeface="Arial"/>
              </a:defRPr>
            </a:pPr>
            <a:r>
              <a:t>计算机学院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软件综合实习答辩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41413"/>
                </a:solidFill>
                <a:latin typeface="Arial"/>
              </a:defRPr>
            </a:pPr>
            <a:r>
              <a:t>1. 项目背景与架构概览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41413"/>
                </a:solidFill>
                <a:latin typeface="Arial"/>
              </a:defRPr>
            </a:pPr>
            <a:r>
              <a:t>2. 敏捷流程与团队协作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41413"/>
                </a:solidFill>
                <a:latin typeface="Arial"/>
              </a:defRPr>
            </a:pPr>
            <a:r>
              <a:t>3. 主要设计决策（6项）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D3D3A"/>
                </a:solidFill>
                <a:latin typeface="Arial"/>
              </a:defRPr>
            </a:pPr>
            <a:r>
              <a:t>4. Agent 系统设计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D3D3A"/>
                </a:solidFill>
                <a:latin typeface="Arial"/>
              </a:defRPr>
            </a:pPr>
            <a:r>
              <a:t>5. 架构视图（逻辑/开发/运行/部署）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D3D3A"/>
                </a:solidFill>
                <a:latin typeface="Arial"/>
              </a:defRPr>
            </a:pPr>
            <a:r>
              <a:t>6. 核心功能演示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D3D3A"/>
                </a:solidFill>
                <a:latin typeface="Arial"/>
              </a:defRPr>
            </a:pPr>
            <a:r>
              <a:t>7. 质量属性与测试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D3D3A"/>
                </a:solidFill>
                <a:latin typeface="Arial"/>
              </a:defRPr>
            </a:pPr>
            <a:r>
              <a:t>8. 项目总结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项目背景与架构概览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以 Agent 对话为核心的统一校园服务智能体平台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面向高校学生，AI Agent 对话为统一入口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整合课表/导航/培养方案/选课/文书 10个用例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35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RAG 为核心知识引擎，Agent 负责多轮编排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3852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9572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前端: Vue3 + Element Plus + AMap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1576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AI后端: FastAPI + LangChain + DeepSeek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35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用户服务: Django 5.2 + DRF +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5584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数据层: MySQL 8.4 + Redis 7 + 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675887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部署: Docker Compose · 阿里云 ECS 4C4G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115568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73168"/>
            <a:ext cx="10826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项目规模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23036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5个Docker容器 · 18个Agent工具 · 30+ API端点 · 前后端8000+行 · 16+文档知识库 · 60位教师信息 · 375+向量块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敏捷开发流程与团队协作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Scrum · TAPD · 3轮迭代 · 角色分工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Scrum 敏捷实践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方法: Scrum 框架，3轮 Sprint（7天/轮）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工具: TAPD（需求/任务/缺陷）+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35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站会 / Planning / Review / Retrospective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5584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分支: agent-centric + feature分支 + PR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035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3852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团队角色（敏捷要求）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9572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Product Owner: 需求分析·用户故事·Backlog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71576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Scrum Master: 进度跟踪·TAPD看板·障碍清除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03580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Developer 1: AI后端 (Agent+RAG+FastAPI)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35584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Developer 2: 前端 (Vue3+SSE+AMap)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75887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Developer 3: Django+数据库+Docker+测试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115568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773168"/>
            <a:ext cx="10826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迭代计划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23036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迭代1 (第1周): MVP主链路 — 注册/登录·Agent对话·RAG问答·SSE流式·会话管理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550407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迭代2 (第2周): 核心业务 — 知识库上传·教师查询·课表服务·课程规划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87044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迭代3 (第3周): 增强交付 — 选课建议·校园导航·文书辅助·性能检查·验收测试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AF9F5"/>
                </a:solidFill>
                <a:latin typeface="Georgia"/>
              </a:defRPr>
            </a:pPr>
            <a:r>
              <a:t>主要设计决策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A09D96"/>
                </a:solidFill>
                <a:latin typeface="Arial"/>
              </a:defRPr>
            </a:pPr>
            <a:r>
              <a:t>SAD §2.3 — 6项关键架构决策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① 微服务分层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FastAPI(业务) + Django(用户)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降低耦合，独立扩缩容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② RAG +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RAG 提供可追溯事实依据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Agent 负责意图识别与编排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47472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③ 流式与会话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SSE 流式提升体感速度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MySQL 持久化完整生命周期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365760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④ 知识库可运维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上传→切分→索引→检索→重排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管理接口保障可回归可验证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297680"/>
            <a:ext cx="347472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⑤ 模块化演进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92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课表/规划/选课/导航/文书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12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接口先行，已实现/待新增分层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297680"/>
            <a:ext cx="3474720" cy="219456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⑥ 安全治理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892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JWT鉴权 + Redis限流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212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官方知识优先·建议非决策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逻辑视图 — Agent 服务架构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SAD §3.1 · AgentFactory + AgentExecutor + 18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66928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5340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Agent 执行流程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AgentFactory → create_tool_calling_agent() → AgentExecutor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astream() 循环: LLM决定 → tool_call → 执行工具 → 回流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358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SSE 事件: thought → tool_call → tool_result → response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558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每次请求新建 Executor，通过 contextvars 注入 user_id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512064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938528"/>
            <a:ext cx="4791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工具分类（18个）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395728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核心(5): RAG·重排·用户·天气·时间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715768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课表(3): 周课表·今日·创建+冲突检测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3035808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校园(2): 地点搜索·路线规划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355848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知识(2): 培养方案·选课建议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675887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增强(6): 文书·FAQ·业务链接·时间提取·记忆(2)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111556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498848"/>
            <a:ext cx="10826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ReAct 可视化（借鉴 HelloAgents）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95604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HelloAgents 原始: CLI print Thought→Action→Observation  |  我们适配: SSE thought/tool_call/tool_result → 前端可展开卡片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27608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Memory as Tool: remember_user_context / recall_user_context → Redis，7天TTL  |  Context Engineering: Django用户信息 → System Prompt注入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AF9F5"/>
                </a:solidFill>
                <a:latin typeface="Georgia"/>
              </a:defRPr>
            </a:pPr>
            <a:r>
              <a:t>部署视图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A09D96"/>
                </a:solidFill>
                <a:latin typeface="Arial"/>
              </a:defRPr>
            </a:pPr>
            <a:r>
              <a:t>SAD §3.4 · 5个Docker容器 · 阿里云ECS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201168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前端部署单元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Vue3 build → Nginx :80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/api/* → backend 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632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/user/* → django :8001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201168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FastAPI :8000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AgentFactory + SSE 流式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RAG + ChromaDB 向量检索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Redis 限流 + 会话管理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201168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Django :8001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DRF + SimpleJWT 鉴权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用户注册/登录/资料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文件上传服务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3474720" cy="228600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MySQL: chat_history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django_user_service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Redis: 缓存/限流/memory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669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ChromaDB: rag_collection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14800"/>
            <a:ext cx="3474720" cy="228600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模型与外部能力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DeepSeek V3 (deepseek-chat)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DashScope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Qwen3-Reranker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69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高德地图 JSAPI v2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114800"/>
            <a:ext cx="3474720" cy="2286000"/>
          </a:xfrm>
          <a:prstGeom prst="roundRect">
            <a:avLst/>
          </a:prstGeom>
          <a:solidFill>
            <a:srgbClr val="181715"/>
          </a:solidFill>
          <a:ln w="6350">
            <a:solidFill>
              <a:srgbClr val="252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C785C"/>
                </a:solidFill>
                <a:latin typeface="Arial"/>
              </a:defRPr>
            </a:pPr>
            <a:r>
              <a:t>部署特性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Docker Compose 一键部署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4个 Volume 数据持久化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healthcheck + 自动重启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669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AF9F5"/>
                </a:solidFill>
                <a:latin typeface="Arial"/>
              </a:defRPr>
            </a:pPr>
            <a:r>
              <a:t>阿里云镜像源加速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功能演示 (一) — 课表与导航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Agent 工具调用 · 结构化卡片 · 双校区地图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C6A64"/>
                </a:solidFill>
                <a:latin typeface="Arial"/>
              </a:defRPr>
            </a:pPr>
            <a:r>
              <a:t>[ 此处放置课表截图 ]</a:t>
            </a:r>
            <a:br/>
            <a:br/>
            <a:r>
              <a:t>Agent: "我今天有什么课"</a:t>
            </a:r>
            <a:br/>
            <a:r>
              <a:t>→ get_schedule_today</a:t>
            </a:r>
            <a:br/>
            <a:r>
              <a:t>→ schedule_card 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C6A64"/>
                </a:solidFill>
                <a:latin typeface="Arial"/>
              </a:defRPr>
            </a:pPr>
            <a:r>
              <a:t>[ 此处放置导航截图 ]</a:t>
            </a:r>
            <a:br/>
            <a:br/>
            <a:r>
              <a:t>双校区筛选(南望山/未来城)</a:t>
            </a:r>
            <a:br/>
            <a:r>
              <a:t>高德地图标注+路线规划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AF9F5"/>
                </a:solidFill>
                <a:latin typeface="Georgia"/>
              </a:defRPr>
            </a:pPr>
            <a:r>
              <a:t>功能演示 (二) — 知识问答与文书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A09D96"/>
                </a:solidFill>
                <a:latin typeface="Arial"/>
              </a:defRPr>
            </a:pPr>
            <a:r>
              <a:t>RAG 检索 · 来源引用 · 可信度提示 · docx 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A09D96"/>
                </a:solidFill>
                <a:latin typeface="Arial"/>
              </a:defRPr>
            </a:pPr>
            <a:r>
              <a:t>[ 此处放置 RAG问答截图 ]</a:t>
            </a:r>
            <a:br/>
            <a:br/>
            <a:r>
              <a:t>"缓考怎么申请"</a:t>
            </a:r>
            <a:br/>
            <a:r>
              <a:t>→ rag_summary_tools</a:t>
            </a:r>
            <a:br/>
            <a:r>
              <a:t>→ process_guide 步骤卡片</a:t>
            </a:r>
            <a:br/>
            <a:r>
              <a:t>→ 来源: 学生手册.pdf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A09D96"/>
                </a:solidFill>
                <a:latin typeface="Arial"/>
              </a:defRPr>
            </a:pPr>
            <a:r>
              <a:t>[ 此处放置文书生成截图 ]</a:t>
            </a:r>
            <a:br/>
            <a:br/>
            <a:r>
              <a:t>"帮我写个请假条"</a:t>
            </a:r>
            <a:br/>
            <a:r>
              <a:t>→ doc_preview 预览卡片</a:t>
            </a:r>
            <a:br/>
            <a:r>
              <a:t>→ 确认 → docx 下载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质量属性与软件测试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SAD §2.2.3 · 可用性/性能/安全/可修改/可测试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质量属性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可用性: 99% 年均可用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性能: 首字节 &lt;3s, 50并发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3580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安全: JWT鉴权+令牌黑名单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5584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可修改: 低耦合模块化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3852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测试策略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单元: pytest TDD 3用例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71576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集成: Docker内curl验证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3580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E2E: 5场景 100%准确率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35584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限流: Redis滑动窗口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3852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关键Bug修复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957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课表去重: 三重检查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71576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知识库隔离: 两集合分离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03580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地图标注: setMap()修复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5584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V4 Flash→V3: 兼容性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1115568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041648"/>
            <a:ext cx="10826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需求-架构映射 (SAD §5)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49884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SC-1 校园知识问答 → rag_service + vector_store + /api/rag/query  |  SC-3 课表服务 → agent_tools (schedule组) + schedule_service + PDF解析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81888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SC-5 选课建议 → agent_tools (recommend_courses) + 4策略模板  |  SC-6 校园导航 → agent_tools (campus组) + campus_location_service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13892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SC-7 统一智能体 → AIChat.vue + SSE流式 + 18工具 + DatabaseSessionManager  |  SC-9 并发保障 → Redis限流 + RateLimitMiddleware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458968"/>
            <a:ext cx="10826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全链路质量: JWT(HS256)鉴权 · 会话归属校验 · 结构化日志 · agent-centric分支Git管理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5760"/>
            <a:ext cx="45720" cy="4572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141413"/>
                </a:solidFill>
                <a:latin typeface="Georgia"/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6C6A64"/>
                </a:solidFill>
                <a:latin typeface="Arial"/>
              </a:defRPr>
            </a:pPr>
            <a:r>
              <a:t>10个用例全部实现 · 5容器 Docker化 · 18个 Agent 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9572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微服务分层 (FastAPI+Django)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1576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RAG + Agent 协同主链路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3580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SSE 流式 + 会话持久化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35584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知识库可运维设计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74320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93852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敏捷实践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9572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Scrum 3轮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1576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TAPD + GitHub 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03580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PO/SM/Dev 角色分工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335584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配置管理与分支策略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274320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93852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技术创新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9572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ReAct 可视化 (HelloAgents)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1576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Memory Tool (Redis)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03580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结构化 result_card 8种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35584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双校区 + 高德地图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828800"/>
            <a:ext cx="274320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93852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Arial"/>
              </a:defRPr>
            </a:pPr>
            <a:r>
              <a:t>质量保障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39572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pytest TDD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71576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E2E 5场景 100%准确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03580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Redis 限流 + JWT鉴权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3355848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D3D3A"/>
                </a:solidFill>
                <a:latin typeface="Arial"/>
              </a:defRPr>
            </a:pPr>
            <a:r>
              <a:t>• 6项Bug修复记录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CC785C"/>
                </a:solidFill>
                <a:latin typeface="Arial"/>
              </a:defRPr>
            </a:pPr>
            <a:r>
              <a:t>展望: 多Agent协作 · 语音交互 · 移动端适配 · 更多知识库内容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54864" cy="201168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800" b="1">
                <a:solidFill>
                  <a:srgbClr val="FAF9F5"/>
                </a:solidFill>
                <a:latin typeface="Georgia"/>
              </a:defRPr>
            </a:pPr>
            <a:r>
              <a:t>感谢各位评委老师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A09D96"/>
                </a:solidFill>
                <a:latin typeface="Arial"/>
              </a:defRPr>
            </a:pPr>
            <a:r>
              <a:t>507 Agent · 校园服务智能体平台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CC785C"/>
                </a:solidFill>
                <a:latin typeface="Arial"/>
              </a:defRPr>
            </a:pPr>
            <a:r>
              <a:t>请批评指正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09D96"/>
                </a:solidFill>
                <a:latin typeface="Arial"/>
              </a:defRPr>
            </a:pPr>
            <a:r>
              <a:t>GitHub: TermInaL1111/507_Agent  ·  分支: agent-centric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C6A64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